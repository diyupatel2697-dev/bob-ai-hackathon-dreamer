
<file path=[Content_Types].xml><?xml version="1.0" encoding="utf-8"?>
<Types xmlns="http://schemas.openxmlformats.org/package/2006/content-types">
  <Default Extension="jpeg" ContentType="image/jpeg"/>
  <Default Extension="png" ContentType="image/pn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2"/>
    <p:sldId id="257" r:id="rId3"/>
    <p:sldId id="258" r:id="rId4"/>
    <p:sldId id="259" r:id="rId5"/>
    <p:sldId id="260" r:id="rId6"/>
    <p:sldId id="261" r:id="rId7"/>
    <p:sldId id="262" r:id="rId8"/>
    <p:sldId id="264" r:id="rId9"/>
  </p:sldIdLst>
  <p:sldSz cx="12192000" cy="6858000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>
        <p15:guide id="1" orient="horz" pos="2160">
          <p15:clr>
            <a:srgbClr val="A4A3A4"/>
          </p15:clr>
        </p15:guide>
        <p15:guide id="2" pos="2880">
          <p15:clr>
            <a:srgbClr val="A4A3A4"/>
          </p15:clr>
        </p15:guide>
      </p15:sldGuideLst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  <p:ext uri="{FD5EFAAD-0ECE-453E-9831-46B23BE46B34}">
      <p15:chartTrackingRefBased xmlns:p15="http://schemas.microsoft.com/office/powerpoint/2012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4995" autoAdjust="0"/>
    <p:restoredTop sz="94660"/>
  </p:normalViewPr>
  <p:slideViewPr>
    <p:cSldViewPr snapToGrid="0" snapToObjects="1">
      <p:cViewPr varScale="1">
        <p:scale>
          <a:sx n="78" d="100"/>
          <a:sy n="78" d="100"/>
        </p:scale>
        <p:origin x="878" y="6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2008" cy="72008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7.xml"/><Relationship Id="rId13" Type="http://schemas.openxmlformats.org/officeDocument/2006/relationships/tableStyles" Target="tableStyles.xml"/><Relationship Id="rId3" Type="http://schemas.openxmlformats.org/officeDocument/2006/relationships/slide" Target="slides/slide2.xml"/><Relationship Id="rId7" Type="http://schemas.openxmlformats.org/officeDocument/2006/relationships/slide" Target="slides/slide6.xml"/><Relationship Id="rId12" Type="http://schemas.openxmlformats.org/officeDocument/2006/relationships/theme" Target="theme/theme1.xml"/><Relationship Id="rId2" Type="http://schemas.openxmlformats.org/officeDocument/2006/relationships/slide" Target="slides/slide1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viewProps" Target="viewProps.xml"/><Relationship Id="rId5" Type="http://schemas.openxmlformats.org/officeDocument/2006/relationships/slide" Target="slides/slide4.xml"/><Relationship Id="rId10" Type="http://schemas.openxmlformats.org/officeDocument/2006/relationships/presProps" Target="presProps.xml"/><Relationship Id="rId4" Type="http://schemas.openxmlformats.org/officeDocument/2006/relationships/slide" Target="slides/slide3.xml"/><Relationship Id="rId9" Type="http://schemas.openxmlformats.org/officeDocument/2006/relationships/slide" Target="slides/slide8.xml"/></Relationship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/>
              <a:t>Click to edit Master subtitle style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9/15/2026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9/15/2026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9/15/2026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9/15/2026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9/15/2026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9/15/2026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9/15/2026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9/15/2026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r>
              <a:rPr lang="en-US"/>
              <a:t>Click icon to add picture</a:t>
            </a:r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9/15/2026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9/15/2026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9/15/2026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9/15/2026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png"/><Relationship Id="rId2" Type="http://schemas.openxmlformats.org/officeDocument/2006/relationships/image" Target="../media/image1.png"/><Relationship Id="rId1" Type="http://schemas.openxmlformats.org/officeDocument/2006/relationships/slideLayout" Target="../slideLayouts/slideLayout7.xml"/></Relationships>
</file>

<file path=ppt/slides/_rels/slide2.xml.rels><?xml version="1.0" encoding="UTF-8" standalone="yes"?>
<Relationships xmlns="http://schemas.openxmlformats.org/package/2006/relationships"><Relationship Id="rId8" Type="http://schemas.openxmlformats.org/officeDocument/2006/relationships/image" Target="../media/image8.png"/><Relationship Id="rId3" Type="http://schemas.openxmlformats.org/officeDocument/2006/relationships/image" Target="../media/image3.png"/><Relationship Id="rId7" Type="http://schemas.openxmlformats.org/officeDocument/2006/relationships/image" Target="../media/image7.png"/><Relationship Id="rId2" Type="http://schemas.openxmlformats.org/officeDocument/2006/relationships/image" Target="../media/image1.png"/><Relationship Id="rId1" Type="http://schemas.openxmlformats.org/officeDocument/2006/relationships/slideLayout" Target="../slideLayouts/slideLayout7.xml"/><Relationship Id="rId6" Type="http://schemas.openxmlformats.org/officeDocument/2006/relationships/image" Target="../media/image6.png"/><Relationship Id="rId5" Type="http://schemas.openxmlformats.org/officeDocument/2006/relationships/image" Target="../media/image5.png"/><Relationship Id="rId4" Type="http://schemas.openxmlformats.org/officeDocument/2006/relationships/image" Target="../media/image4.png"/><Relationship Id="rId9" Type="http://schemas.openxmlformats.org/officeDocument/2006/relationships/image" Target="../media/image9.png"/></Relationships>
</file>

<file path=ppt/slides/_rels/slide3.xml.rels><?xml version="1.0" encoding="UTF-8" standalone="yes"?>
<Relationships xmlns="http://schemas.openxmlformats.org/package/2006/relationships"><Relationship Id="rId3" Type="http://schemas.openxmlformats.org/officeDocument/2006/relationships/image" Target="../media/image3.png"/><Relationship Id="rId7" Type="http://schemas.openxmlformats.org/officeDocument/2006/relationships/image" Target="../media/image13.png"/><Relationship Id="rId2" Type="http://schemas.openxmlformats.org/officeDocument/2006/relationships/image" Target="../media/image1.png"/><Relationship Id="rId1" Type="http://schemas.openxmlformats.org/officeDocument/2006/relationships/slideLayout" Target="../slideLayouts/slideLayout7.xml"/><Relationship Id="rId6" Type="http://schemas.openxmlformats.org/officeDocument/2006/relationships/image" Target="../media/image12.png"/><Relationship Id="rId5" Type="http://schemas.openxmlformats.org/officeDocument/2006/relationships/image" Target="../media/image11.png"/><Relationship Id="rId4" Type="http://schemas.openxmlformats.org/officeDocument/2006/relationships/image" Target="../media/image10.png"/></Relationships>
</file>

<file path=ppt/slides/_rels/slide4.xml.rels><?xml version="1.0" encoding="UTF-8" standalone="yes"?>
<Relationships xmlns="http://schemas.openxmlformats.org/package/2006/relationships"><Relationship Id="rId8" Type="http://schemas.openxmlformats.org/officeDocument/2006/relationships/image" Target="../media/image18.png"/><Relationship Id="rId3" Type="http://schemas.openxmlformats.org/officeDocument/2006/relationships/image" Target="../media/image3.png"/><Relationship Id="rId7" Type="http://schemas.openxmlformats.org/officeDocument/2006/relationships/image" Target="../media/image17.png"/><Relationship Id="rId2" Type="http://schemas.openxmlformats.org/officeDocument/2006/relationships/image" Target="../media/image1.png"/><Relationship Id="rId1" Type="http://schemas.openxmlformats.org/officeDocument/2006/relationships/slideLayout" Target="../slideLayouts/slideLayout7.xml"/><Relationship Id="rId6" Type="http://schemas.openxmlformats.org/officeDocument/2006/relationships/image" Target="../media/image16.png"/><Relationship Id="rId5" Type="http://schemas.openxmlformats.org/officeDocument/2006/relationships/image" Target="../media/image15.png"/><Relationship Id="rId4" Type="http://schemas.openxmlformats.org/officeDocument/2006/relationships/image" Target="../media/image14.png"/></Relationships>
</file>

<file path=ppt/slides/_rels/slide5.xml.rels><?xml version="1.0" encoding="UTF-8" standalone="yes"?>
<Relationships xmlns="http://schemas.openxmlformats.org/package/2006/relationships"><Relationship Id="rId8" Type="http://schemas.openxmlformats.org/officeDocument/2006/relationships/image" Target="../media/image23.png"/><Relationship Id="rId3" Type="http://schemas.openxmlformats.org/officeDocument/2006/relationships/image" Target="../media/image3.png"/><Relationship Id="rId7" Type="http://schemas.openxmlformats.org/officeDocument/2006/relationships/image" Target="../media/image22.png"/><Relationship Id="rId2" Type="http://schemas.openxmlformats.org/officeDocument/2006/relationships/image" Target="../media/image1.png"/><Relationship Id="rId1" Type="http://schemas.openxmlformats.org/officeDocument/2006/relationships/slideLayout" Target="../slideLayouts/slideLayout7.xml"/><Relationship Id="rId6" Type="http://schemas.openxmlformats.org/officeDocument/2006/relationships/image" Target="../media/image21.png"/><Relationship Id="rId5" Type="http://schemas.openxmlformats.org/officeDocument/2006/relationships/image" Target="../media/image20.png"/><Relationship Id="rId4" Type="http://schemas.openxmlformats.org/officeDocument/2006/relationships/image" Target="../media/image19.png"/></Relationships>
</file>

<file path=ppt/slides/_rels/slide6.xml.rels><?xml version="1.0" encoding="UTF-8" standalone="yes"?>
<Relationships xmlns="http://schemas.openxmlformats.org/package/2006/relationships"><Relationship Id="rId8" Type="http://schemas.openxmlformats.org/officeDocument/2006/relationships/image" Target="../media/image28.png"/><Relationship Id="rId3" Type="http://schemas.openxmlformats.org/officeDocument/2006/relationships/image" Target="../media/image3.png"/><Relationship Id="rId7" Type="http://schemas.openxmlformats.org/officeDocument/2006/relationships/image" Target="../media/image27.png"/><Relationship Id="rId2" Type="http://schemas.openxmlformats.org/officeDocument/2006/relationships/image" Target="../media/image1.png"/><Relationship Id="rId1" Type="http://schemas.openxmlformats.org/officeDocument/2006/relationships/slideLayout" Target="../slideLayouts/slideLayout7.xml"/><Relationship Id="rId6" Type="http://schemas.openxmlformats.org/officeDocument/2006/relationships/image" Target="../media/image26.png"/><Relationship Id="rId5" Type="http://schemas.openxmlformats.org/officeDocument/2006/relationships/image" Target="../media/image25.png"/><Relationship Id="rId4" Type="http://schemas.openxmlformats.org/officeDocument/2006/relationships/image" Target="../media/image24.png"/></Relationships>
</file>

<file path=ppt/slides/_rels/slide7.xml.rels><?xml version="1.0" encoding="UTF-8" standalone="yes"?>
<Relationships xmlns="http://schemas.openxmlformats.org/package/2006/relationships"><Relationship Id="rId3" Type="http://schemas.openxmlformats.org/officeDocument/2006/relationships/image" Target="../media/image3.png"/><Relationship Id="rId7" Type="http://schemas.openxmlformats.org/officeDocument/2006/relationships/image" Target="../media/image32.png"/><Relationship Id="rId2" Type="http://schemas.openxmlformats.org/officeDocument/2006/relationships/image" Target="../media/image1.png"/><Relationship Id="rId1" Type="http://schemas.openxmlformats.org/officeDocument/2006/relationships/slideLayout" Target="../slideLayouts/slideLayout7.xml"/><Relationship Id="rId6" Type="http://schemas.openxmlformats.org/officeDocument/2006/relationships/image" Target="../media/image31.png"/><Relationship Id="rId5" Type="http://schemas.openxmlformats.org/officeDocument/2006/relationships/image" Target="../media/image30.png"/><Relationship Id="rId4" Type="http://schemas.openxmlformats.org/officeDocument/2006/relationships/image" Target="../media/image29.png"/></Relationships>
</file>

<file path=ppt/slides/_rels/slide8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png"/><Relationship Id="rId1" Type="http://schemas.openxmlformats.org/officeDocument/2006/relationships/slideLayout" Target="../slideLayouts/slideLayout7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060B14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Picture 1" descr="image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0"/>
            <a:ext cx="12192000" cy="6858000"/>
          </a:xfrm>
          <a:prstGeom prst="rect">
            <a:avLst/>
          </a:prstGeom>
        </p:spPr>
      </p:pic>
      <p:pic>
        <p:nvPicPr>
          <p:cNvPr id="3" name="Picture 2" descr="image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4695825" y="3684686"/>
            <a:ext cx="2800350" cy="670470"/>
          </a:xfrm>
          <a:prstGeom prst="rect">
            <a:avLst/>
          </a:prstGeom>
        </p:spPr>
      </p:pic>
      <p:sp>
        <p:nvSpPr>
          <p:cNvPr id="4" name="TextBox 3"/>
          <p:cNvSpPr txBox="1"/>
          <p:nvPr/>
        </p:nvSpPr>
        <p:spPr>
          <a:xfrm>
            <a:off x="1600438" y="1639788"/>
            <a:ext cx="8991123" cy="890587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ctr">
              <a:lnSpc>
                <a:spcPts val="7012"/>
              </a:lnSpc>
            </a:pPr>
            <a:r>
              <a:rPr sz="6375" b="1" i="0" u="none">
                <a:solidFill>
                  <a:srgbClr val="F8FAFC"/>
                </a:solidFill>
                <a:latin typeface="Poppins"/>
              </a:rPr>
              <a:t>AEGIS HUMS </a:t>
            </a:r>
            <a:r>
              <a:rPr sz="6375" b="1" i="0" u="none">
                <a:solidFill>
                  <a:srgbClr val="00FFD5"/>
                </a:solidFill>
                <a:latin typeface="Poppins"/>
              </a:rPr>
              <a:t>Platform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2624137" y="2720875"/>
            <a:ext cx="6943725" cy="48756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ctr">
              <a:lnSpc>
                <a:spcPts val="3840"/>
              </a:lnSpc>
            </a:pPr>
            <a:r>
              <a:rPr sz="2400" b="0" i="0" u="none">
                <a:solidFill>
                  <a:srgbClr val="E2E8F0"/>
                </a:solidFill>
                <a:latin typeface="Urbanist"/>
              </a:rPr>
              <a:t>Mission Readiness &amp; Predictive Maintenance Copilot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5086350" y="3837086"/>
            <a:ext cx="2019300" cy="36567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ctr">
              <a:lnSpc>
                <a:spcPts val="2879"/>
              </a:lnSpc>
            </a:pPr>
            <a:r>
              <a:rPr sz="1800" b="1" i="0" u="none">
                <a:solidFill>
                  <a:srgbClr val="00FFD5"/>
                </a:solidFill>
                <a:latin typeface="Urbanist"/>
              </a:rPr>
              <a:t>TEAM DREAMERS</a:t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060B14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Picture 1" descr="image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0"/>
            <a:ext cx="12192000" cy="6858000"/>
          </a:xfrm>
          <a:prstGeom prst="rect">
            <a:avLst/>
          </a:prstGeom>
        </p:spPr>
      </p:pic>
      <p:pic>
        <p:nvPicPr>
          <p:cNvPr id="3" name="Picture 2" descr="image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6324600" y="1676400"/>
            <a:ext cx="5295900" cy="4572000"/>
          </a:xfrm>
          <a:prstGeom prst="rect">
            <a:avLst/>
          </a:prstGeom>
        </p:spPr>
      </p:pic>
      <p:pic>
        <p:nvPicPr>
          <p:cNvPr id="4" name="Picture 3" descr="image.png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6334125" y="1685925"/>
            <a:ext cx="5276850" cy="4552950"/>
          </a:xfrm>
          <a:prstGeom prst="rect">
            <a:avLst/>
          </a:prstGeom>
        </p:spPr>
      </p:pic>
      <p:sp>
        <p:nvSpPr>
          <p:cNvPr id="5" name="TextBox 4"/>
          <p:cNvSpPr txBox="1"/>
          <p:nvPr/>
        </p:nvSpPr>
        <p:spPr>
          <a:xfrm>
            <a:off x="1000125" y="1768673"/>
            <a:ext cx="4848225" cy="517921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ts val="2039"/>
              </a:lnSpc>
            </a:pPr>
            <a:r>
              <a:rPr sz="1275" b="1" i="0" u="none">
                <a:solidFill>
                  <a:srgbClr val="F8FAFC"/>
                </a:solidFill>
                <a:latin typeface="Urbanist"/>
              </a:rPr>
              <a:t>Critical Now:</a:t>
            </a:r>
            <a:r>
              <a:rPr sz="1275" b="0" i="0" u="none">
                <a:solidFill>
                  <a:srgbClr val="94A3B8"/>
                </a:solidFill>
                <a:latin typeface="Urbanist"/>
              </a:rPr>
              <a:t> Military organizations cannot reliably determine whether aircraft, vehicles, and equipment are mission-ready.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1000125" y="2438995"/>
            <a:ext cx="4848225" cy="517921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ts val="2039"/>
              </a:lnSpc>
            </a:pPr>
            <a:r>
              <a:rPr sz="1275" b="1" i="0" u="none">
                <a:solidFill>
                  <a:srgbClr val="F8FAFC"/>
                </a:solidFill>
                <a:latin typeface="Urbanist"/>
              </a:rPr>
              <a:t>Fixed Schedules:</a:t>
            </a:r>
            <a:r>
              <a:rPr sz="1275" b="0" i="0" u="none">
                <a:solidFill>
                  <a:srgbClr val="94A3B8"/>
                </a:solidFill>
                <a:latin typeface="Urbanist"/>
              </a:rPr>
              <a:t> Maintenance runs on fixed calendar schedules regardless of actual component condition.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1000125" y="3109317"/>
            <a:ext cx="4848225" cy="517921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ts val="2039"/>
              </a:lnSpc>
            </a:pPr>
            <a:r>
              <a:rPr sz="1275" b="1" i="0" u="none">
                <a:solidFill>
                  <a:srgbClr val="F8FAFC"/>
                </a:solidFill>
                <a:latin typeface="Urbanist"/>
              </a:rPr>
              <a:t>Wasted Data:</a:t>
            </a:r>
            <a:r>
              <a:rPr sz="1275" b="0" i="0" u="none">
                <a:solidFill>
                  <a:srgbClr val="94A3B8"/>
                </a:solidFill>
                <a:latin typeface="Urbanist"/>
              </a:rPr>
              <a:t> HUMS (Health &amp; Usage Monitoring System) sensor data that could predict failures weeks in advance sits unanalysed.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1000125" y="3779639"/>
            <a:ext cx="4848225" cy="1035843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ts val="2039"/>
              </a:lnSpc>
            </a:pPr>
            <a:r>
              <a:rPr sz="1275" b="1" i="0" u="none">
                <a:solidFill>
                  <a:srgbClr val="F8FAFC"/>
                </a:solidFill>
                <a:latin typeface="Urbanist"/>
              </a:rPr>
              <a:t>Massive Cost:</a:t>
            </a:r>
            <a:r>
              <a:rPr sz="1275" b="0" i="0" u="none">
                <a:solidFill>
                  <a:srgbClr val="94A3B8"/>
                </a:solidFill>
                <a:latin typeface="Urbanist"/>
              </a:rPr>
              <a:t> When platforms fail unexpectedly, operational readiness drops and recovery takes weeks. The US military spends $90B/year on maintenance — shifting to predictive approaches saves billions.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1000125" y="4967882"/>
            <a:ext cx="4848225" cy="1035843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ts val="2039"/>
              </a:lnSpc>
            </a:pPr>
            <a:r>
              <a:rPr sz="1275" b="1" i="0" u="none">
                <a:solidFill>
                  <a:srgbClr val="F8FAFC"/>
                </a:solidFill>
                <a:latin typeface="Urbanist"/>
              </a:rPr>
              <a:t>Your Challenge:</a:t>
            </a:r>
            <a:r>
              <a:rPr sz="1275" b="0" i="0" u="none">
                <a:solidFill>
                  <a:srgbClr val="94A3B8"/>
                </a:solidFill>
                <a:latin typeface="Urbanist"/>
              </a:rPr>
              <a:t> Build a Bob Copilot that ingests sensor data and service records to identify non-ready assets, explain each readiness issue, predict which components will fail before the next mission window, and recommend a prioritized maintenance plan.</a:t>
            </a:r>
          </a:p>
        </p:txBody>
      </p:sp>
      <p:pic>
        <p:nvPicPr>
          <p:cNvPr id="10" name="Picture 9" descr="image.png"/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571500" y="1782960"/>
            <a:ext cx="190500" cy="200025"/>
          </a:xfrm>
          <a:prstGeom prst="rect">
            <a:avLst/>
          </a:prstGeom>
        </p:spPr>
      </p:pic>
      <p:pic>
        <p:nvPicPr>
          <p:cNvPr id="11" name="Picture 10" descr="image.png"/>
          <p:cNvPicPr>
            <a:picLocks noChangeAspect="1"/>
          </p:cNvPicPr>
          <p:nvPr/>
        </p:nvPicPr>
        <p:blipFill>
          <a:blip r:embed="rId6"/>
          <a:stretch>
            <a:fillRect/>
          </a:stretch>
        </p:blipFill>
        <p:spPr>
          <a:xfrm>
            <a:off x="571500" y="2453282"/>
            <a:ext cx="171450" cy="200025"/>
          </a:xfrm>
          <a:prstGeom prst="rect">
            <a:avLst/>
          </a:prstGeom>
        </p:spPr>
      </p:pic>
      <p:pic>
        <p:nvPicPr>
          <p:cNvPr id="12" name="Picture 11" descr="image.png"/>
          <p:cNvPicPr>
            <a:picLocks noChangeAspect="1"/>
          </p:cNvPicPr>
          <p:nvPr/>
        </p:nvPicPr>
        <p:blipFill>
          <a:blip r:embed="rId7"/>
          <a:stretch>
            <a:fillRect/>
          </a:stretch>
        </p:blipFill>
        <p:spPr>
          <a:xfrm>
            <a:off x="571500" y="3123604"/>
            <a:ext cx="171450" cy="200025"/>
          </a:xfrm>
          <a:prstGeom prst="rect">
            <a:avLst/>
          </a:prstGeom>
        </p:spPr>
      </p:pic>
      <p:pic>
        <p:nvPicPr>
          <p:cNvPr id="13" name="Picture 12" descr="image.png"/>
          <p:cNvPicPr>
            <a:picLocks noChangeAspect="1"/>
          </p:cNvPicPr>
          <p:nvPr/>
        </p:nvPicPr>
        <p:blipFill>
          <a:blip r:embed="rId8"/>
          <a:stretch>
            <a:fillRect/>
          </a:stretch>
        </p:blipFill>
        <p:spPr>
          <a:xfrm>
            <a:off x="571500" y="3793926"/>
            <a:ext cx="190500" cy="200025"/>
          </a:xfrm>
          <a:prstGeom prst="rect">
            <a:avLst/>
          </a:prstGeom>
        </p:spPr>
      </p:pic>
      <p:pic>
        <p:nvPicPr>
          <p:cNvPr id="14" name="Picture 13" descr="image.png"/>
          <p:cNvPicPr>
            <a:picLocks noChangeAspect="1"/>
          </p:cNvPicPr>
          <p:nvPr/>
        </p:nvPicPr>
        <p:blipFill>
          <a:blip r:embed="rId9"/>
          <a:stretch>
            <a:fillRect/>
          </a:stretch>
        </p:blipFill>
        <p:spPr>
          <a:xfrm>
            <a:off x="571500" y="4982170"/>
            <a:ext cx="190500" cy="200025"/>
          </a:xfrm>
          <a:prstGeom prst="rect">
            <a:avLst/>
          </a:prstGeom>
        </p:spPr>
      </p:pic>
      <p:sp>
        <p:nvSpPr>
          <p:cNvPr id="15" name="TextBox 14"/>
          <p:cNvSpPr txBox="1"/>
          <p:nvPr/>
        </p:nvSpPr>
        <p:spPr>
          <a:xfrm>
            <a:off x="571500" y="571500"/>
            <a:ext cx="11601450" cy="68580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/>
            <a:r>
              <a:rPr sz="3600" b="1" i="0" u="none">
                <a:solidFill>
                  <a:srgbClr val="F8FAFC"/>
                </a:solidFill>
                <a:latin typeface="Poppins"/>
              </a:rPr>
              <a:t>The Readiness </a:t>
            </a:r>
            <a:r>
              <a:rPr sz="3600" b="1" i="0" u="none">
                <a:solidFill>
                  <a:srgbClr val="0F62FE"/>
                </a:solidFill>
                <a:latin typeface="Poppins"/>
              </a:rPr>
              <a:t>Problem</a:t>
            </a: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060B14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Picture 1" descr="image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0"/>
            <a:ext cx="12192000" cy="6858000"/>
          </a:xfrm>
          <a:prstGeom prst="rect">
            <a:avLst/>
          </a:prstGeom>
        </p:spPr>
      </p:pic>
      <p:pic>
        <p:nvPicPr>
          <p:cNvPr id="3" name="Picture 2" descr="image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6324600" y="1676400"/>
            <a:ext cx="5295900" cy="4572000"/>
          </a:xfrm>
          <a:prstGeom prst="rect">
            <a:avLst/>
          </a:prstGeom>
        </p:spPr>
      </p:pic>
      <p:pic>
        <p:nvPicPr>
          <p:cNvPr id="4" name="Picture 3" descr="image.png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6334125" y="1685925"/>
            <a:ext cx="5276850" cy="4552950"/>
          </a:xfrm>
          <a:prstGeom prst="rect">
            <a:avLst/>
          </a:prstGeom>
        </p:spPr>
      </p:pic>
      <p:sp>
        <p:nvSpPr>
          <p:cNvPr id="5" name="TextBox 4"/>
          <p:cNvSpPr txBox="1"/>
          <p:nvPr/>
        </p:nvSpPr>
        <p:spPr>
          <a:xfrm>
            <a:off x="1000125" y="2171700"/>
            <a:ext cx="4848225" cy="60960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ts val="2400"/>
              </a:lnSpc>
            </a:pPr>
            <a:r>
              <a:rPr sz="1500" b="1" i="0" u="none">
                <a:solidFill>
                  <a:srgbClr val="F8FAFC"/>
                </a:solidFill>
                <a:latin typeface="Urbanist"/>
              </a:rPr>
              <a:t>AEGIS HUMS Platform:</a:t>
            </a:r>
            <a:r>
              <a:rPr sz="1500" b="0" i="0" u="none">
                <a:solidFill>
                  <a:srgbClr val="94A3B8"/>
                </a:solidFill>
                <a:latin typeface="Urbanist"/>
              </a:rPr>
              <a:t> A centralized AI-powered Fleet Readiness system.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1000125" y="2990850"/>
            <a:ext cx="4848225" cy="60960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ts val="2400"/>
              </a:lnSpc>
            </a:pPr>
            <a:r>
              <a:rPr sz="1500" b="1" i="0" u="none">
                <a:solidFill>
                  <a:srgbClr val="F8FAFC"/>
                </a:solidFill>
                <a:latin typeface="Urbanist"/>
              </a:rPr>
              <a:t>Meet Bob Copilot:</a:t>
            </a:r>
            <a:r>
              <a:rPr sz="1500" b="0" i="0" u="none">
                <a:solidFill>
                  <a:srgbClr val="94A3B8"/>
                </a:solidFill>
                <a:latin typeface="Urbanist"/>
              </a:rPr>
              <a:t> Automates telemetry ingestion and surfaces critical insights.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1000125" y="3810000"/>
            <a:ext cx="4848225" cy="60960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ts val="2400"/>
              </a:lnSpc>
            </a:pPr>
            <a:r>
              <a:rPr sz="1500" b="1" i="0" u="none">
                <a:solidFill>
                  <a:srgbClr val="F8FAFC"/>
                </a:solidFill>
                <a:latin typeface="Urbanist"/>
              </a:rPr>
              <a:t>Total Visibility:</a:t>
            </a:r>
            <a:r>
              <a:rPr sz="1500" b="0" i="0" u="none">
                <a:solidFill>
                  <a:srgbClr val="94A3B8"/>
                </a:solidFill>
                <a:latin typeface="Urbanist"/>
              </a:rPr>
              <a:t> Provides commanders with real-time views of mission readiness across all operational sectors.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1000125" y="4629150"/>
            <a:ext cx="4848225" cy="91440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ts val="2400"/>
              </a:lnSpc>
            </a:pPr>
            <a:r>
              <a:rPr sz="1500" b="1" i="0" u="none">
                <a:solidFill>
                  <a:srgbClr val="F8FAFC"/>
                </a:solidFill>
                <a:latin typeface="Urbanist"/>
              </a:rPr>
              <a:t>Predictive Action:</a:t>
            </a:r>
            <a:r>
              <a:rPr sz="1500" b="0" i="0" u="none">
                <a:solidFill>
                  <a:srgbClr val="94A3B8"/>
                </a:solidFill>
                <a:latin typeface="Urbanist"/>
              </a:rPr>
              <a:t> Identifies non-ready assets immediately and explains exact readiness issues dynamically.</a:t>
            </a:r>
          </a:p>
        </p:txBody>
      </p:sp>
      <p:pic>
        <p:nvPicPr>
          <p:cNvPr id="9" name="Picture 8" descr="image.png"/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571500" y="2205037"/>
            <a:ext cx="247650" cy="257175"/>
          </a:xfrm>
          <a:prstGeom prst="rect">
            <a:avLst/>
          </a:prstGeom>
        </p:spPr>
      </p:pic>
      <p:pic>
        <p:nvPicPr>
          <p:cNvPr id="10" name="Picture 9" descr="image.png"/>
          <p:cNvPicPr>
            <a:picLocks noChangeAspect="1"/>
          </p:cNvPicPr>
          <p:nvPr/>
        </p:nvPicPr>
        <p:blipFill>
          <a:blip r:embed="rId6"/>
          <a:stretch>
            <a:fillRect/>
          </a:stretch>
        </p:blipFill>
        <p:spPr>
          <a:xfrm>
            <a:off x="571500" y="3024187"/>
            <a:ext cx="314325" cy="257175"/>
          </a:xfrm>
          <a:prstGeom prst="rect">
            <a:avLst/>
          </a:prstGeom>
        </p:spPr>
      </p:pic>
      <p:pic>
        <p:nvPicPr>
          <p:cNvPr id="11" name="Picture 10" descr="image.png"/>
          <p:cNvPicPr>
            <a:picLocks noChangeAspect="1"/>
          </p:cNvPicPr>
          <p:nvPr/>
        </p:nvPicPr>
        <p:blipFill>
          <a:blip r:embed="rId7"/>
          <a:stretch>
            <a:fillRect/>
          </a:stretch>
        </p:blipFill>
        <p:spPr>
          <a:xfrm>
            <a:off x="571500" y="4662487"/>
            <a:ext cx="219075" cy="257175"/>
          </a:xfrm>
          <a:prstGeom prst="rect">
            <a:avLst/>
          </a:prstGeom>
        </p:spPr>
      </p:pic>
      <p:sp>
        <p:nvSpPr>
          <p:cNvPr id="12" name="TextBox 11"/>
          <p:cNvSpPr txBox="1"/>
          <p:nvPr/>
        </p:nvSpPr>
        <p:spPr>
          <a:xfrm>
            <a:off x="571500" y="571500"/>
            <a:ext cx="11601450" cy="68580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/>
            <a:r>
              <a:rPr sz="3600" b="1" i="0" u="none">
                <a:solidFill>
                  <a:srgbClr val="F8FAFC"/>
                </a:solidFill>
                <a:latin typeface="Poppins"/>
              </a:rPr>
              <a:t>Our Solution: </a:t>
            </a:r>
            <a:r>
              <a:rPr sz="3600" b="1" i="0" u="none">
                <a:solidFill>
                  <a:srgbClr val="0F62FE"/>
                </a:solidFill>
                <a:latin typeface="Poppins"/>
              </a:rPr>
              <a:t>Bob Copilot</a:t>
            </a: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060B14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Picture 1" descr="image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0"/>
            <a:ext cx="12192000" cy="6858000"/>
          </a:xfrm>
          <a:prstGeom prst="rect">
            <a:avLst/>
          </a:prstGeom>
        </p:spPr>
      </p:pic>
      <p:pic>
        <p:nvPicPr>
          <p:cNvPr id="3" name="Picture 2" descr="image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6324600" y="1676400"/>
            <a:ext cx="5295900" cy="4572000"/>
          </a:xfrm>
          <a:prstGeom prst="rect">
            <a:avLst/>
          </a:prstGeom>
        </p:spPr>
      </p:pic>
      <p:pic>
        <p:nvPicPr>
          <p:cNvPr id="4" name="Picture 3" descr="image.png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6334125" y="1685925"/>
            <a:ext cx="5276850" cy="4552950"/>
          </a:xfrm>
          <a:prstGeom prst="rect">
            <a:avLst/>
          </a:prstGeom>
        </p:spPr>
      </p:pic>
      <p:sp>
        <p:nvSpPr>
          <p:cNvPr id="5" name="TextBox 4"/>
          <p:cNvSpPr txBox="1"/>
          <p:nvPr/>
        </p:nvSpPr>
        <p:spPr>
          <a:xfrm>
            <a:off x="1000125" y="1866900"/>
            <a:ext cx="4848225" cy="91440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ts val="2400"/>
              </a:lnSpc>
            </a:pPr>
            <a:r>
              <a:rPr sz="1500" b="1" i="0" u="none">
                <a:solidFill>
                  <a:srgbClr val="F8FAFC"/>
                </a:solidFill>
                <a:latin typeface="Urbanist"/>
              </a:rPr>
              <a:t>1. Telemetry Ingestion:</a:t>
            </a:r>
            <a:r>
              <a:rPr sz="1500" b="0" i="0" u="none">
                <a:solidFill>
                  <a:srgbClr val="94A3B8"/>
                </a:solidFill>
                <a:latin typeface="Urbanist"/>
              </a:rPr>
              <a:t> Continuous, real-time streams of vibration, oil debris, and temperature data from active field assets.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1000125" y="2990850"/>
            <a:ext cx="4848225" cy="60960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ts val="2400"/>
              </a:lnSpc>
            </a:pPr>
            <a:r>
              <a:rPr sz="1500" b="1" i="0" u="none">
                <a:solidFill>
                  <a:srgbClr val="F8FAFC"/>
                </a:solidFill>
                <a:latin typeface="Urbanist"/>
              </a:rPr>
              <a:t>2. Stream Processing:</a:t>
            </a:r>
            <a:r>
              <a:rPr sz="1500" b="0" i="0" u="none">
                <a:solidFill>
                  <a:srgbClr val="94A3B8"/>
                </a:solidFill>
                <a:latin typeface="Urbanist"/>
              </a:rPr>
              <a:t> High-throughput event routing via IBM Event Streams into scalable Cloud Object Storage.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1000125" y="3810000"/>
            <a:ext cx="4848225" cy="91440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ts val="2400"/>
              </a:lnSpc>
            </a:pPr>
            <a:r>
              <a:rPr sz="1500" b="1" i="0" u="none">
                <a:solidFill>
                  <a:srgbClr val="F8FAFC"/>
                </a:solidFill>
                <a:latin typeface="Urbanist"/>
              </a:rPr>
              <a:t>3. AI Inference:</a:t>
            </a:r>
            <a:r>
              <a:rPr sz="1500" b="0" i="0" u="none">
                <a:solidFill>
                  <a:srgbClr val="94A3B8"/>
                </a:solidFill>
                <a:latin typeface="Urbanist"/>
              </a:rPr>
              <a:t> Machine learning models continuously score Remaining Useful Life (RUL) and forecast failure horizons.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1000125" y="4933950"/>
            <a:ext cx="4848225" cy="91440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ts val="2400"/>
              </a:lnSpc>
            </a:pPr>
            <a:r>
              <a:rPr sz="1500" b="1" i="0" u="none">
                <a:solidFill>
                  <a:srgbClr val="F8FAFC"/>
                </a:solidFill>
                <a:latin typeface="Urbanist"/>
              </a:rPr>
              <a:t>4. Command Interface:</a:t>
            </a:r>
            <a:r>
              <a:rPr sz="1500" b="0" i="0" u="none">
                <a:solidFill>
                  <a:srgbClr val="94A3B8"/>
                </a:solidFill>
                <a:latin typeface="Urbanist"/>
              </a:rPr>
              <a:t> React-based UI surfaces actionable intelligence and seamlessly integrates with enterprise asset management.</a:t>
            </a:r>
          </a:p>
        </p:txBody>
      </p:sp>
      <p:pic>
        <p:nvPicPr>
          <p:cNvPr id="9" name="Picture 8" descr="image.png"/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571500" y="1900237"/>
            <a:ext cx="247650" cy="257175"/>
          </a:xfrm>
          <a:prstGeom prst="rect">
            <a:avLst/>
          </a:prstGeom>
        </p:spPr>
      </p:pic>
      <p:pic>
        <p:nvPicPr>
          <p:cNvPr id="10" name="Picture 9" descr="image.png"/>
          <p:cNvPicPr>
            <a:picLocks noChangeAspect="1"/>
          </p:cNvPicPr>
          <p:nvPr/>
        </p:nvPicPr>
        <p:blipFill>
          <a:blip r:embed="rId6"/>
          <a:stretch>
            <a:fillRect/>
          </a:stretch>
        </p:blipFill>
        <p:spPr>
          <a:xfrm>
            <a:off x="571500" y="3024187"/>
            <a:ext cx="247650" cy="257175"/>
          </a:xfrm>
          <a:prstGeom prst="rect">
            <a:avLst/>
          </a:prstGeom>
        </p:spPr>
      </p:pic>
      <p:pic>
        <p:nvPicPr>
          <p:cNvPr id="11" name="Picture 10" descr="image.png"/>
          <p:cNvPicPr>
            <a:picLocks noChangeAspect="1"/>
          </p:cNvPicPr>
          <p:nvPr/>
        </p:nvPicPr>
        <p:blipFill>
          <a:blip r:embed="rId7"/>
          <a:stretch>
            <a:fillRect/>
          </a:stretch>
        </p:blipFill>
        <p:spPr>
          <a:xfrm>
            <a:off x="571500" y="3843337"/>
            <a:ext cx="247650" cy="257175"/>
          </a:xfrm>
          <a:prstGeom prst="rect">
            <a:avLst/>
          </a:prstGeom>
        </p:spPr>
      </p:pic>
      <p:pic>
        <p:nvPicPr>
          <p:cNvPr id="12" name="Picture 11" descr="image.png"/>
          <p:cNvPicPr>
            <a:picLocks noChangeAspect="1"/>
          </p:cNvPicPr>
          <p:nvPr/>
        </p:nvPicPr>
        <p:blipFill>
          <a:blip r:embed="rId8"/>
          <a:stretch>
            <a:fillRect/>
          </a:stretch>
        </p:blipFill>
        <p:spPr>
          <a:xfrm>
            <a:off x="571500" y="4967287"/>
            <a:ext cx="276225" cy="257175"/>
          </a:xfrm>
          <a:prstGeom prst="rect">
            <a:avLst/>
          </a:prstGeom>
        </p:spPr>
      </p:pic>
      <p:sp>
        <p:nvSpPr>
          <p:cNvPr id="13" name="TextBox 12"/>
          <p:cNvSpPr txBox="1"/>
          <p:nvPr/>
        </p:nvSpPr>
        <p:spPr>
          <a:xfrm>
            <a:off x="571500" y="571500"/>
            <a:ext cx="11601450" cy="68580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/>
            <a:r>
              <a:rPr sz="3600" b="1" i="0" u="none">
                <a:solidFill>
                  <a:srgbClr val="F8FAFC"/>
                </a:solidFill>
                <a:latin typeface="Poppins"/>
              </a:rPr>
              <a:t>Technical </a:t>
            </a:r>
            <a:r>
              <a:rPr sz="3600" b="1" i="0" u="none">
                <a:solidFill>
                  <a:srgbClr val="0F62FE"/>
                </a:solidFill>
                <a:latin typeface="Poppins"/>
              </a:rPr>
              <a:t>Architecture</a:t>
            </a: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060B14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Picture 1" descr="image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0"/>
            <a:ext cx="12192000" cy="6858000"/>
          </a:xfrm>
          <a:prstGeom prst="rect">
            <a:avLst/>
          </a:prstGeom>
        </p:spPr>
      </p:pic>
      <p:pic>
        <p:nvPicPr>
          <p:cNvPr id="3" name="Picture 2" descr="image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6324600" y="1676400"/>
            <a:ext cx="5295900" cy="4572000"/>
          </a:xfrm>
          <a:prstGeom prst="rect">
            <a:avLst/>
          </a:prstGeom>
        </p:spPr>
      </p:pic>
      <p:pic>
        <p:nvPicPr>
          <p:cNvPr id="4" name="Picture 3" descr="image.png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6334125" y="1685925"/>
            <a:ext cx="5276850" cy="4552950"/>
          </a:xfrm>
          <a:prstGeom prst="rect">
            <a:avLst/>
          </a:prstGeom>
        </p:spPr>
      </p:pic>
      <p:sp>
        <p:nvSpPr>
          <p:cNvPr id="5" name="TextBox 4"/>
          <p:cNvSpPr txBox="1"/>
          <p:nvPr/>
        </p:nvSpPr>
        <p:spPr>
          <a:xfrm>
            <a:off x="1000125" y="2171700"/>
            <a:ext cx="4848225" cy="91440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ts val="2400"/>
              </a:lnSpc>
            </a:pPr>
            <a:r>
              <a:rPr sz="1500" b="1" i="0" u="none">
                <a:solidFill>
                  <a:srgbClr val="F8FAFC"/>
                </a:solidFill>
                <a:latin typeface="Urbanist"/>
              </a:rPr>
              <a:t>Pinpoint Accuracy:</a:t>
            </a:r>
            <a:r>
              <a:rPr sz="1500" b="0" i="0" u="none">
                <a:solidFill>
                  <a:srgbClr val="94A3B8"/>
                </a:solidFill>
                <a:latin typeface="Urbanist"/>
              </a:rPr>
              <a:t> Shifts maintenance from reactive to predictive by detecting exact component breakdown risks.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1000125" y="3295650"/>
            <a:ext cx="4848225" cy="60960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ts val="2400"/>
              </a:lnSpc>
            </a:pPr>
            <a:r>
              <a:rPr sz="1500" b="1" i="0" u="none">
                <a:solidFill>
                  <a:srgbClr val="F8FAFC"/>
                </a:solidFill>
                <a:latin typeface="Urbanist"/>
              </a:rPr>
              <a:t>Sensor Anomalies:</a:t>
            </a:r>
            <a:r>
              <a:rPr sz="1500" b="0" i="0" u="none">
                <a:solidFill>
                  <a:srgbClr val="94A3B8"/>
                </a:solidFill>
                <a:latin typeface="Urbanist"/>
              </a:rPr>
              <a:t> Analyzes complex signatures (e.g., high-frequency vibration peaks &amp; ferrous debris).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1000125" y="4114800"/>
            <a:ext cx="4848225" cy="60960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ts val="2400"/>
              </a:lnSpc>
            </a:pPr>
            <a:r>
              <a:rPr sz="1500" b="1" i="0" u="none">
                <a:solidFill>
                  <a:srgbClr val="F8FAFC"/>
                </a:solidFill>
                <a:latin typeface="Urbanist"/>
              </a:rPr>
              <a:t>AI Confidence:</a:t>
            </a:r>
            <a:r>
              <a:rPr sz="1500" b="0" i="0" u="none">
                <a:solidFill>
                  <a:srgbClr val="94A3B8"/>
                </a:solidFill>
                <a:latin typeface="Urbanist"/>
              </a:rPr>
              <a:t> Delivers failure horizons with up to 94% certainty.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1000125" y="4933950"/>
            <a:ext cx="4848225" cy="60960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ts val="2400"/>
              </a:lnSpc>
            </a:pPr>
            <a:r>
              <a:rPr sz="1500" b="1" i="0" u="none">
                <a:solidFill>
                  <a:srgbClr val="F8FAFC"/>
                </a:solidFill>
                <a:latin typeface="Urbanist"/>
              </a:rPr>
              <a:t>Impact Tracking:</a:t>
            </a:r>
            <a:r>
              <a:rPr sz="1500" b="0" i="0" u="none">
                <a:solidFill>
                  <a:srgbClr val="94A3B8"/>
                </a:solidFill>
                <a:latin typeface="Urbanist"/>
              </a:rPr>
              <a:t> Automatically calculates estimated cost avoidance per incident to justify actions.</a:t>
            </a:r>
          </a:p>
        </p:txBody>
      </p:sp>
      <p:pic>
        <p:nvPicPr>
          <p:cNvPr id="9" name="Picture 8" descr="image.png"/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571500" y="2205037"/>
            <a:ext cx="247650" cy="257175"/>
          </a:xfrm>
          <a:prstGeom prst="rect">
            <a:avLst/>
          </a:prstGeom>
        </p:spPr>
      </p:pic>
      <p:pic>
        <p:nvPicPr>
          <p:cNvPr id="10" name="Picture 9" descr="image.png"/>
          <p:cNvPicPr>
            <a:picLocks noChangeAspect="1"/>
          </p:cNvPicPr>
          <p:nvPr/>
        </p:nvPicPr>
        <p:blipFill>
          <a:blip r:embed="rId6"/>
          <a:stretch>
            <a:fillRect/>
          </a:stretch>
        </p:blipFill>
        <p:spPr>
          <a:xfrm>
            <a:off x="571500" y="3328987"/>
            <a:ext cx="247650" cy="257175"/>
          </a:xfrm>
          <a:prstGeom prst="rect">
            <a:avLst/>
          </a:prstGeom>
        </p:spPr>
      </p:pic>
      <p:pic>
        <p:nvPicPr>
          <p:cNvPr id="11" name="Picture 10" descr="image.png"/>
          <p:cNvPicPr>
            <a:picLocks noChangeAspect="1"/>
          </p:cNvPicPr>
          <p:nvPr/>
        </p:nvPicPr>
        <p:blipFill>
          <a:blip r:embed="rId7"/>
          <a:stretch>
            <a:fillRect/>
          </a:stretch>
        </p:blipFill>
        <p:spPr>
          <a:xfrm>
            <a:off x="571500" y="4148137"/>
            <a:ext cx="247650" cy="257175"/>
          </a:xfrm>
          <a:prstGeom prst="rect">
            <a:avLst/>
          </a:prstGeom>
        </p:spPr>
      </p:pic>
      <p:pic>
        <p:nvPicPr>
          <p:cNvPr id="12" name="Picture 11" descr="image.png"/>
          <p:cNvPicPr>
            <a:picLocks noChangeAspect="1"/>
          </p:cNvPicPr>
          <p:nvPr/>
        </p:nvPicPr>
        <p:blipFill>
          <a:blip r:embed="rId8"/>
          <a:stretch>
            <a:fillRect/>
          </a:stretch>
        </p:blipFill>
        <p:spPr>
          <a:xfrm>
            <a:off x="571500" y="4967287"/>
            <a:ext cx="276225" cy="257175"/>
          </a:xfrm>
          <a:prstGeom prst="rect">
            <a:avLst/>
          </a:prstGeom>
        </p:spPr>
      </p:pic>
      <p:sp>
        <p:nvSpPr>
          <p:cNvPr id="13" name="TextBox 12"/>
          <p:cNvSpPr txBox="1"/>
          <p:nvPr/>
        </p:nvSpPr>
        <p:spPr>
          <a:xfrm>
            <a:off x="571500" y="571500"/>
            <a:ext cx="11601450" cy="68580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/>
            <a:r>
              <a:rPr sz="3600" b="1" i="0" u="none">
                <a:solidFill>
                  <a:srgbClr val="F8FAFC"/>
                </a:solidFill>
                <a:latin typeface="Poppins"/>
              </a:rPr>
              <a:t>Key Feature: </a:t>
            </a:r>
            <a:r>
              <a:rPr sz="3600" b="1" i="0" u="none">
                <a:solidFill>
                  <a:srgbClr val="0F62FE"/>
                </a:solidFill>
                <a:latin typeface="Poppins"/>
              </a:rPr>
              <a:t>Failure Detection</a:t>
            </a:r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060B14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Picture 1" descr="image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0"/>
            <a:ext cx="12192000" cy="6858000"/>
          </a:xfrm>
          <a:prstGeom prst="rect">
            <a:avLst/>
          </a:prstGeom>
        </p:spPr>
      </p:pic>
      <p:pic>
        <p:nvPicPr>
          <p:cNvPr id="3" name="Picture 2" descr="image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6324600" y="1676400"/>
            <a:ext cx="5295900" cy="4572000"/>
          </a:xfrm>
          <a:prstGeom prst="rect">
            <a:avLst/>
          </a:prstGeom>
        </p:spPr>
      </p:pic>
      <p:pic>
        <p:nvPicPr>
          <p:cNvPr id="4" name="Picture 3" descr="image.png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6334125" y="1685925"/>
            <a:ext cx="5276850" cy="4552950"/>
          </a:xfrm>
          <a:prstGeom prst="rect">
            <a:avLst/>
          </a:prstGeom>
        </p:spPr>
      </p:pic>
      <p:sp>
        <p:nvSpPr>
          <p:cNvPr id="5" name="TextBox 4"/>
          <p:cNvSpPr txBox="1"/>
          <p:nvPr/>
        </p:nvSpPr>
        <p:spPr>
          <a:xfrm>
            <a:off x="1000125" y="1714500"/>
            <a:ext cx="4848225" cy="91440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ts val="2400"/>
              </a:lnSpc>
            </a:pPr>
            <a:r>
              <a:rPr sz="1500" b="1" i="0" u="none">
                <a:solidFill>
                  <a:srgbClr val="F8FAFC"/>
                </a:solidFill>
                <a:latin typeface="Urbanist"/>
              </a:rPr>
              <a:t>watsonx.ai:</a:t>
            </a:r>
            <a:r>
              <a:rPr sz="1500" b="0" i="0" u="none">
                <a:solidFill>
                  <a:srgbClr val="94A3B8"/>
                </a:solidFill>
                <a:latin typeface="Urbanist"/>
              </a:rPr>
              <a:t> Powers the core predictive maintenance ML models. Ingests historical failures to forecast Remaining Useful Life (RUL).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1000125" y="2838450"/>
            <a:ext cx="4848225" cy="91440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ts val="2400"/>
              </a:lnSpc>
            </a:pPr>
            <a:r>
              <a:rPr sz="1500" b="1" i="0" u="none">
                <a:solidFill>
                  <a:srgbClr val="F8FAFC"/>
                </a:solidFill>
                <a:latin typeface="Urbanist"/>
              </a:rPr>
              <a:t>IBM Maximo:</a:t>
            </a:r>
            <a:r>
              <a:rPr sz="1500" b="0" i="0" u="none">
                <a:solidFill>
                  <a:srgbClr val="94A3B8"/>
                </a:solidFill>
                <a:latin typeface="Urbanist"/>
              </a:rPr>
              <a:t> Integrates seamlessly to automate repair work orders, assign technicians, and manage spare parts inventory.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1000125" y="3962400"/>
            <a:ext cx="4848225" cy="91440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ts val="2400"/>
              </a:lnSpc>
            </a:pPr>
            <a:r>
              <a:rPr sz="1500" b="1" i="0" u="none">
                <a:solidFill>
                  <a:srgbClr val="F8FAFC"/>
                </a:solidFill>
                <a:latin typeface="Urbanist"/>
              </a:rPr>
              <a:t>watsonx Assistant:</a:t>
            </a:r>
            <a:r>
              <a:rPr sz="1500" b="0" i="0" u="none">
                <a:solidFill>
                  <a:srgbClr val="94A3B8"/>
                </a:solidFill>
                <a:latin typeface="Urbanist"/>
              </a:rPr>
              <a:t> Drives the "Bob Copilot" conversational interface, allowing fleet commanders to query readiness naturally.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1000125" y="5086350"/>
            <a:ext cx="4848225" cy="91440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ts val="2400"/>
              </a:lnSpc>
            </a:pPr>
            <a:r>
              <a:rPr sz="1500" b="1" i="0" u="none">
                <a:solidFill>
                  <a:srgbClr val="F8FAFC"/>
                </a:solidFill>
                <a:latin typeface="Urbanist"/>
              </a:rPr>
              <a:t>IBM Cloud:</a:t>
            </a:r>
            <a:r>
              <a:rPr sz="1500" b="0" i="0" u="none">
                <a:solidFill>
                  <a:srgbClr val="94A3B8"/>
                </a:solidFill>
                <a:latin typeface="Urbanist"/>
              </a:rPr>
              <a:t> Provides the scalable, secure infrastructure and Cloud Object Storage needed to handle continuous global telemetry.</a:t>
            </a:r>
          </a:p>
        </p:txBody>
      </p:sp>
      <p:pic>
        <p:nvPicPr>
          <p:cNvPr id="9" name="Picture 8" descr="image.png"/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571500" y="1747837"/>
            <a:ext cx="314325" cy="257175"/>
          </a:xfrm>
          <a:prstGeom prst="rect">
            <a:avLst/>
          </a:prstGeom>
        </p:spPr>
      </p:pic>
      <p:pic>
        <p:nvPicPr>
          <p:cNvPr id="10" name="Picture 9" descr="image.png"/>
          <p:cNvPicPr>
            <a:picLocks noChangeAspect="1"/>
          </p:cNvPicPr>
          <p:nvPr/>
        </p:nvPicPr>
        <p:blipFill>
          <a:blip r:embed="rId6"/>
          <a:stretch>
            <a:fillRect/>
          </a:stretch>
        </p:blipFill>
        <p:spPr>
          <a:xfrm>
            <a:off x="571500" y="2871787"/>
            <a:ext cx="247650" cy="257175"/>
          </a:xfrm>
          <a:prstGeom prst="rect">
            <a:avLst/>
          </a:prstGeom>
        </p:spPr>
      </p:pic>
      <p:pic>
        <p:nvPicPr>
          <p:cNvPr id="11" name="Picture 10" descr="image.png"/>
          <p:cNvPicPr>
            <a:picLocks noChangeAspect="1"/>
          </p:cNvPicPr>
          <p:nvPr/>
        </p:nvPicPr>
        <p:blipFill>
          <a:blip r:embed="rId7"/>
          <a:stretch>
            <a:fillRect/>
          </a:stretch>
        </p:blipFill>
        <p:spPr>
          <a:xfrm>
            <a:off x="571500" y="3995737"/>
            <a:ext cx="314325" cy="257175"/>
          </a:xfrm>
          <a:prstGeom prst="rect">
            <a:avLst/>
          </a:prstGeom>
        </p:spPr>
      </p:pic>
      <p:pic>
        <p:nvPicPr>
          <p:cNvPr id="12" name="Picture 11" descr="image.png"/>
          <p:cNvPicPr>
            <a:picLocks noChangeAspect="1"/>
          </p:cNvPicPr>
          <p:nvPr/>
        </p:nvPicPr>
        <p:blipFill>
          <a:blip r:embed="rId8"/>
          <a:stretch>
            <a:fillRect/>
          </a:stretch>
        </p:blipFill>
        <p:spPr>
          <a:xfrm>
            <a:off x="571500" y="5119687"/>
            <a:ext cx="314325" cy="257175"/>
          </a:xfrm>
          <a:prstGeom prst="rect">
            <a:avLst/>
          </a:prstGeom>
        </p:spPr>
      </p:pic>
      <p:sp>
        <p:nvSpPr>
          <p:cNvPr id="13" name="TextBox 12"/>
          <p:cNvSpPr txBox="1"/>
          <p:nvPr/>
        </p:nvSpPr>
        <p:spPr>
          <a:xfrm>
            <a:off x="571500" y="571500"/>
            <a:ext cx="11601450" cy="68580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/>
            <a:r>
              <a:rPr sz="3600" b="1" i="0" u="none">
                <a:solidFill>
                  <a:srgbClr val="F8FAFC"/>
                </a:solidFill>
                <a:latin typeface="Poppins"/>
              </a:rPr>
              <a:t>Powered by </a:t>
            </a:r>
            <a:r>
              <a:rPr sz="3600" b="1" i="0" u="none">
                <a:solidFill>
                  <a:srgbClr val="0F62FE"/>
                </a:solidFill>
                <a:latin typeface="Poppins"/>
              </a:rPr>
              <a:t>IBM Technologies</a:t>
            </a:r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060B14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Picture 1" descr="image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0"/>
            <a:ext cx="12192000" cy="6858000"/>
          </a:xfrm>
          <a:prstGeom prst="rect">
            <a:avLst/>
          </a:prstGeom>
        </p:spPr>
      </p:pic>
      <p:pic>
        <p:nvPicPr>
          <p:cNvPr id="3" name="Picture 2" descr="image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6324600" y="1676400"/>
            <a:ext cx="5295900" cy="4572000"/>
          </a:xfrm>
          <a:prstGeom prst="rect">
            <a:avLst/>
          </a:prstGeom>
        </p:spPr>
      </p:pic>
      <p:pic>
        <p:nvPicPr>
          <p:cNvPr id="4" name="Picture 3" descr="image.png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6334125" y="1685925"/>
            <a:ext cx="5276850" cy="4552950"/>
          </a:xfrm>
          <a:prstGeom prst="rect">
            <a:avLst/>
          </a:prstGeom>
        </p:spPr>
      </p:pic>
      <p:sp>
        <p:nvSpPr>
          <p:cNvPr id="5" name="TextBox 4"/>
          <p:cNvSpPr txBox="1"/>
          <p:nvPr/>
        </p:nvSpPr>
        <p:spPr>
          <a:xfrm>
            <a:off x="1000125" y="2276475"/>
            <a:ext cx="4848225" cy="91440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ts val="2400"/>
              </a:lnSpc>
            </a:pPr>
            <a:r>
              <a:rPr sz="1500" b="1" i="0" u="none">
                <a:solidFill>
                  <a:srgbClr val="F8FAFC"/>
                </a:solidFill>
                <a:latin typeface="Urbanist"/>
              </a:rPr>
              <a:t>92% Mission Readiness:</a:t>
            </a:r>
            <a:r>
              <a:rPr sz="1500" b="0" i="0" u="none">
                <a:solidFill>
                  <a:srgbClr val="94A3B8"/>
                </a:solidFill>
                <a:latin typeface="Urbanist"/>
              </a:rPr>
              <a:t> Achieved an +8.4% operational improvement compared to traditional calendar-based maintenance schedules.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1000125" y="3400425"/>
            <a:ext cx="4848225" cy="91440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ts val="2400"/>
              </a:lnSpc>
            </a:pPr>
            <a:r>
              <a:rPr sz="1500" b="1" i="0" u="none">
                <a:solidFill>
                  <a:srgbClr val="F8FAFC"/>
                </a:solidFill>
                <a:latin typeface="Urbanist"/>
              </a:rPr>
              <a:t>187 Failures Prevented:</a:t>
            </a:r>
            <a:r>
              <a:rPr sz="1500" b="0" i="0" u="none">
                <a:solidFill>
                  <a:srgbClr val="94A3B8"/>
                </a:solidFill>
                <a:latin typeface="Urbanist"/>
              </a:rPr>
              <a:t> Intercepted critical breakdowns before grounding assets across 1,250 continuously monitored vehicles.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1000125" y="4524375"/>
            <a:ext cx="4848225" cy="91440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ts val="2400"/>
              </a:lnSpc>
            </a:pPr>
            <a:r>
              <a:rPr sz="1500" b="1" i="0" u="none">
                <a:solidFill>
                  <a:srgbClr val="F8FAFC"/>
                </a:solidFill>
                <a:latin typeface="Urbanist"/>
              </a:rPr>
              <a:t>$2.3B Annual Savings:</a:t>
            </a:r>
            <a:r>
              <a:rPr sz="1500" b="0" i="0" u="none">
                <a:solidFill>
                  <a:srgbClr val="94A3B8"/>
                </a:solidFill>
                <a:latin typeface="Urbanist"/>
              </a:rPr>
              <a:t> Massive cost avoidance derived from 18,858 hours of unscheduled downtime saved globally.</a:t>
            </a:r>
          </a:p>
        </p:txBody>
      </p:sp>
      <p:pic>
        <p:nvPicPr>
          <p:cNvPr id="8" name="Picture 7" descr="image.png"/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571500" y="2309812"/>
            <a:ext cx="219075" cy="257175"/>
          </a:xfrm>
          <a:prstGeom prst="rect">
            <a:avLst/>
          </a:prstGeom>
        </p:spPr>
      </p:pic>
      <p:pic>
        <p:nvPicPr>
          <p:cNvPr id="9" name="Picture 8" descr="image.png"/>
          <p:cNvPicPr>
            <a:picLocks noChangeAspect="1"/>
          </p:cNvPicPr>
          <p:nvPr/>
        </p:nvPicPr>
        <p:blipFill>
          <a:blip r:embed="rId6"/>
          <a:stretch>
            <a:fillRect/>
          </a:stretch>
        </p:blipFill>
        <p:spPr>
          <a:xfrm>
            <a:off x="571500" y="3433762"/>
            <a:ext cx="247650" cy="257175"/>
          </a:xfrm>
          <a:prstGeom prst="rect">
            <a:avLst/>
          </a:prstGeom>
        </p:spPr>
      </p:pic>
      <p:pic>
        <p:nvPicPr>
          <p:cNvPr id="10" name="Picture 9" descr="image.png"/>
          <p:cNvPicPr>
            <a:picLocks noChangeAspect="1"/>
          </p:cNvPicPr>
          <p:nvPr/>
        </p:nvPicPr>
        <p:blipFill>
          <a:blip r:embed="rId7"/>
          <a:stretch>
            <a:fillRect/>
          </a:stretch>
        </p:blipFill>
        <p:spPr>
          <a:xfrm>
            <a:off x="571500" y="4557712"/>
            <a:ext cx="276225" cy="257175"/>
          </a:xfrm>
          <a:prstGeom prst="rect">
            <a:avLst/>
          </a:prstGeom>
        </p:spPr>
      </p:pic>
      <p:sp>
        <p:nvSpPr>
          <p:cNvPr id="11" name="TextBox 10"/>
          <p:cNvSpPr txBox="1"/>
          <p:nvPr/>
        </p:nvSpPr>
        <p:spPr>
          <a:xfrm>
            <a:off x="571500" y="571500"/>
            <a:ext cx="11601450" cy="68580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/>
            <a:r>
              <a:rPr sz="3600" b="1" i="0" u="none">
                <a:solidFill>
                  <a:srgbClr val="F8FAFC"/>
                </a:solidFill>
                <a:latin typeface="Poppins"/>
              </a:rPr>
              <a:t>Results &amp; </a:t>
            </a:r>
            <a:r>
              <a:rPr sz="3600" b="1" i="0" u="none">
                <a:solidFill>
                  <a:srgbClr val="0F62FE"/>
                </a:solidFill>
                <a:latin typeface="Poppins"/>
              </a:rPr>
              <a:t>Impact</a:t>
            </a:r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060B14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Picture 1" descr="image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0"/>
            <a:ext cx="12192000" cy="6858000"/>
          </a:xfrm>
          <a:prstGeom prst="rect">
            <a:avLst/>
          </a:prstGeom>
        </p:spPr>
      </p:pic>
      <p:sp>
        <p:nvSpPr>
          <p:cNvPr id="6" name="TextBox 5"/>
          <p:cNvSpPr txBox="1"/>
          <p:nvPr/>
        </p:nvSpPr>
        <p:spPr>
          <a:xfrm>
            <a:off x="295275" y="2813447"/>
            <a:ext cx="11601450" cy="1231106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ctr"/>
            <a:r>
              <a:rPr lang="en-IN" sz="8000" b="1" i="1" u="none" dirty="0">
                <a:solidFill>
                  <a:srgbClr val="F8FAFC"/>
                </a:solidFill>
                <a:latin typeface="Poppins"/>
              </a:rPr>
              <a:t>THANK YOU!</a:t>
            </a:r>
            <a:endParaRPr sz="8000" b="1" i="1" u="none" dirty="0">
              <a:solidFill>
                <a:srgbClr val="F8FAFC"/>
              </a:solidFill>
              <a:latin typeface="Poppins"/>
            </a:endParaRP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emplate>AEGIS HUMS Final Presentation</Template>
  <TotalTime>1</TotalTime>
  <Words>498</Words>
  <Application>Microsoft Office PowerPoint</Application>
  <PresentationFormat>Widescreen</PresentationFormat>
  <Paragraphs>34</Paragraphs>
  <Slides>8</Slides>
  <Notes>0</Notes>
  <HiddenSlides>0</HiddenSlides>
  <MMClips>0</MMClips>
  <ScaleCrop>false</ScaleCrop>
  <HeadingPairs>
    <vt:vector size="6" baseType="variant">
      <vt:variant>
        <vt:lpstr>Fonts Used</vt:lpstr>
      </vt:variant>
      <vt:variant>
        <vt:i4>4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8</vt:i4>
      </vt:variant>
    </vt:vector>
  </HeadingPairs>
  <TitlesOfParts>
    <vt:vector size="13" baseType="lpstr">
      <vt:lpstr>Arial</vt:lpstr>
      <vt:lpstr>Calibri</vt:lpstr>
      <vt:lpstr>Poppins</vt:lpstr>
      <vt:lpstr>Urbanist</vt:lpstr>
      <vt:lpstr>Office Theme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</vt:vector>
  </TitlesOfParts>
  <Manager/>
  <Company/>
  <LinksUpToDate>false</LinksUpToDate>
  <SharedDoc>false</SharedDoc>
  <HyperlinkBase/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>Dhanvi Patel</dc:creator>
  <cp:keywords/>
  <dc:description>generated using python-pptx</dc:description>
  <cp:lastModifiedBy>Dhanvi Patel</cp:lastModifiedBy>
  <cp:revision>1</cp:revision>
  <dcterms:created xsi:type="dcterms:W3CDTF">2026-09-15T16:55:42Z</dcterms:created>
  <dcterms:modified xsi:type="dcterms:W3CDTF">2026-09-15T16:57:14Z</dcterms:modified>
  <cp:category/>
</cp:coreProperties>
</file>